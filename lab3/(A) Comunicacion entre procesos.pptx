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4" r:id="rId3"/>
    <p:sldId id="257" r:id="rId4"/>
    <p:sldId id="261" r:id="rId5"/>
    <p:sldId id="262" r:id="rId6"/>
    <p:sldId id="260" r:id="rId7"/>
    <p:sldId id="263" r:id="rId8"/>
    <p:sldId id="258" r:id="rId9"/>
    <p:sldId id="259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5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4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3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8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1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55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1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6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3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7E556-ECC6-418B-B329-5CDE6034E93C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BA3F4-A349-4AC8-A901-476872049F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2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Group 39"/>
          <p:cNvGraphicFramePr>
            <a:graphicFrameLocks noGrp="1"/>
          </p:cNvGraphicFramePr>
          <p:nvPr>
            <p:extLst/>
          </p:nvPr>
        </p:nvGraphicFramePr>
        <p:xfrm>
          <a:off x="838200" y="333375"/>
          <a:ext cx="10515601" cy="1143000"/>
        </p:xfrm>
        <a:graphic>
          <a:graphicData uri="http://schemas.openxmlformats.org/drawingml/2006/table">
            <a:tbl>
              <a:tblPr/>
              <a:tblGrid>
                <a:gridCol w="833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Universidad de Magallanes</a:t>
                      </a:r>
                      <a:endParaRPr kumimoji="0" lang="es-E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Facultad de Ingeniería</a:t>
                      </a:r>
                      <a:endParaRPr kumimoji="0" lang="es-E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Departamento de Ingeniería en Computación</a:t>
                      </a:r>
                      <a:endParaRPr kumimoji="0" lang="es-E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196102" y="3136900"/>
            <a:ext cx="410366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L" altLang="en-US" sz="2800" b="1" u="none" dirty="0">
                <a:solidFill>
                  <a:srgbClr val="FFFFFF"/>
                </a:solidFill>
                <a:latin typeface="Arial" panose="020B0604020202020204" pitchFamily="34" charset="0"/>
              </a:rPr>
              <a:t>SOP3161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s-CL" altLang="en-US" sz="2800" b="1" u="none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s-CL" altLang="en-US" sz="2800" b="1" u="none" dirty="0">
                <a:solidFill>
                  <a:srgbClr val="FFFFFF"/>
                </a:solidFill>
                <a:latin typeface="Arial" panose="020B0604020202020204" pitchFamily="34" charset="0"/>
              </a:rPr>
              <a:t>Eduardo Peña J.</a:t>
            </a:r>
            <a:endParaRPr lang="en-US" altLang="en-US" sz="2800" b="1" u="none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0"/>
          <p:cNvSpPr>
            <a:spLocks noChangeArrowheads="1"/>
          </p:cNvSpPr>
          <p:nvPr/>
        </p:nvSpPr>
        <p:spPr bwMode="auto">
          <a:xfrm>
            <a:off x="2758633" y="2143125"/>
            <a:ext cx="709998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n-US" sz="3600" u="none" dirty="0">
                <a:solidFill>
                  <a:srgbClr val="99CCFF"/>
                </a:solidFill>
                <a:latin typeface="Arial" panose="020B0604020202020204" pitchFamily="34" charset="0"/>
              </a:rPr>
              <a:t/>
            </a:r>
            <a:br>
              <a:rPr lang="es-ES_tradnl" altLang="en-US" sz="3600" u="none" dirty="0">
                <a:solidFill>
                  <a:srgbClr val="99CCFF"/>
                </a:solidFill>
                <a:latin typeface="Arial" panose="020B0604020202020204" pitchFamily="34" charset="0"/>
              </a:rPr>
            </a:br>
            <a:r>
              <a:rPr lang="es-CL" sz="3600" dirty="0">
                <a:solidFill>
                  <a:srgbClr val="FFC000"/>
                </a:solidFill>
              </a:rPr>
              <a:t>Comunicación entre </a:t>
            </a:r>
            <a:r>
              <a:rPr lang="es-CL" sz="3600" dirty="0" smtClean="0">
                <a:solidFill>
                  <a:srgbClr val="FFC000"/>
                </a:solidFill>
              </a:rPr>
              <a:t>procesos</a:t>
            </a:r>
            <a:endParaRPr lang="es-ES_tradnl" altLang="en-US" sz="3600" u="none" noProof="1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48" descr="logo umag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219" y="333375"/>
            <a:ext cx="10683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0" y="6556375"/>
            <a:ext cx="12192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Edopena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</a:t>
            </a:r>
            <a:fld id="{BDA00FCB-1F1F-437A-83CF-D0EF599AFEEA}" type="slidenum">
              <a:rPr lang="en-US" altLang="en-US" sz="1400" u="none" noProof="1" smtClean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fld>
            <a:r>
              <a:rPr lang="en-US" altLang="en-US" sz="1400" u="none" noProof="1" smtClean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s-ES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Sistemas </a:t>
            </a: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Operativos</a:t>
            </a:r>
            <a:endParaRPr lang="de-DE" altLang="en-US" sz="1400" u="none" noProof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Conector recto 8"/>
          <p:cNvCxnSpPr/>
          <p:nvPr/>
        </p:nvCxnSpPr>
        <p:spPr>
          <a:xfrm>
            <a:off x="3378" y="6548303"/>
            <a:ext cx="121983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0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 bwMode="auto">
          <a:xfrm>
            <a:off x="552449" y="1161328"/>
            <a:ext cx="10997293" cy="3965843"/>
          </a:xfrm>
          <a:prstGeom prst="rect">
            <a:avLst/>
          </a:prstGeom>
          <a:solidFill>
            <a:schemeClr val="tx1">
              <a:lumMod val="50000"/>
              <a:lumOff val="50000"/>
              <a:alpha val="4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comunicación entre procesos es primordial para el funcionamiento de cualquier sistema operativo debido a que hay tareas que se realizan mediante la colaboración de varios procesos los cuales deben comunicarse entre si para poder informar sus estados y atributos a los demás procesos con el </a:t>
            </a:r>
            <a:r>
              <a:rPr lang="es-MX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ﬁn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cumplir la tarea.</a:t>
            </a:r>
          </a:p>
          <a:p>
            <a:pPr algn="just"/>
            <a:endParaRPr lang="es-MX" sz="2000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objetivo de este informe es conocer métodos de comunicación entre procesos usando colas de mensajes.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0" y="6556375"/>
            <a:ext cx="12192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Edopena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</a:t>
            </a:r>
            <a:fld id="{4EB9C14F-10C9-4516-A4A6-DFF9DB613CF7}" type="slidenum">
              <a:rPr lang="en-US" altLang="en-US" sz="1400" u="none" noProof="1" smtClean="0">
                <a:solidFill>
                  <a:srgbClr val="FFFFFF"/>
                </a:solidFill>
                <a:latin typeface="Arial" panose="020B0604020202020204" pitchFamily="34" charset="0"/>
              </a:rPr>
              <a:t>2</a:t>
            </a:fld>
            <a:r>
              <a:rPr lang="en-US" altLang="en-US" sz="1400" u="none" noProof="1" smtClean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s-ES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Sistemas </a:t>
            </a: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Operativos</a:t>
            </a:r>
            <a:endParaRPr lang="de-DE" altLang="en-US" sz="1400" u="none" noProof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Conector recto 4"/>
          <p:cNvCxnSpPr/>
          <p:nvPr/>
        </p:nvCxnSpPr>
        <p:spPr>
          <a:xfrm>
            <a:off x="3378" y="6548303"/>
            <a:ext cx="121983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V="1">
            <a:off x="0" y="785091"/>
            <a:ext cx="12192000" cy="92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6350" y="-35150"/>
            <a:ext cx="5191125" cy="730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[ </a:t>
            </a:r>
            <a:r>
              <a:rPr lang="es-ES_tradnl" altLang="en-US" sz="2000" u="none" dirty="0" smtClean="0">
                <a:solidFill>
                  <a:schemeClr val="tx2"/>
                </a:solidFill>
                <a:latin typeface="Arial" panose="020B0604020202020204" pitchFamily="34" charset="0"/>
              </a:rPr>
              <a:t>Laboratorio N°3 </a:t>
            </a: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]</a:t>
            </a:r>
            <a:endParaRPr lang="es-ES_tradnl" altLang="en-US" sz="2000" u="none" noProof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741268" y="233291"/>
            <a:ext cx="4808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4492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n-US" sz="2400" u="none" dirty="0" smtClean="0">
                <a:solidFill>
                  <a:schemeClr val="folHlink"/>
                </a:solidFill>
                <a:latin typeface="Arial" panose="020B0604020202020204" pitchFamily="34" charset="0"/>
              </a:rPr>
              <a:t>Comunicación entre Procesos</a:t>
            </a:r>
            <a:endParaRPr lang="es-CL" altLang="en-US" sz="3600" u="none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14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 bwMode="auto">
          <a:xfrm>
            <a:off x="552449" y="1161328"/>
            <a:ext cx="10997293" cy="3965843"/>
          </a:xfrm>
          <a:prstGeom prst="rect">
            <a:avLst/>
          </a:prstGeom>
          <a:solidFill>
            <a:schemeClr val="tx1">
              <a:lumMod val="50000"/>
              <a:lumOff val="50000"/>
              <a:alpha val="4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L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Utilización de funciones </a:t>
            </a:r>
            <a:r>
              <a:rPr lang="es-CL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es-CL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y </a:t>
            </a:r>
            <a:r>
              <a:rPr lang="es-CL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r>
              <a:rPr lang="es-CL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>
              <a:buNone/>
            </a:pPr>
            <a:endParaRPr lang="es-MX" sz="2000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MX" sz="2000" b="1" i="1" dirty="0" smtClean="0">
                <a:solidFill>
                  <a:srgbClr val="E6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crea una cola de donde va a recibir información de otro proceso (</a:t>
            </a:r>
            <a:r>
              <a:rPr lang="es-MX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que se la envíe.</a:t>
            </a:r>
          </a:p>
          <a:p>
            <a:endParaRPr lang="es-MX" sz="2000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MX" sz="2000" b="1" i="1" dirty="0" smtClean="0">
                <a:solidFill>
                  <a:srgbClr val="E6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crea la cola donde le va a poner información a RECEIVE</a:t>
            </a:r>
            <a:endParaRPr lang="es-CL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0" y="6556375"/>
            <a:ext cx="12192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en-US" sz="1400" dirty="0" smtClean="0">
                <a:solidFill>
                  <a:srgbClr val="FFFFFF"/>
                </a:solidFill>
                <a:latin typeface="Arial" panose="020B0604020202020204" pitchFamily="34" charset="0"/>
              </a:rPr>
              <a:t>Edopena                                                                                                           </a:t>
            </a:r>
            <a:r>
              <a:rPr lang="en-US" altLang="en-US" sz="1400" noProof="1" smtClean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r>
              <a:rPr lang="es-ES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Sistemas </a:t>
            </a: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Operativos</a:t>
            </a:r>
            <a:endParaRPr lang="de-DE" altLang="en-US" sz="1400" u="none" noProof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Conector recto 4"/>
          <p:cNvCxnSpPr/>
          <p:nvPr/>
        </p:nvCxnSpPr>
        <p:spPr>
          <a:xfrm>
            <a:off x="3378" y="6548303"/>
            <a:ext cx="121983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V="1">
            <a:off x="0" y="785091"/>
            <a:ext cx="12192000" cy="92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6350" y="-35150"/>
            <a:ext cx="5191125" cy="730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[ </a:t>
            </a:r>
            <a:r>
              <a:rPr lang="es-ES_tradnl" altLang="en-US" sz="2000" u="none" dirty="0" smtClean="0">
                <a:solidFill>
                  <a:schemeClr val="tx2"/>
                </a:solidFill>
                <a:latin typeface="Arial" panose="020B0604020202020204" pitchFamily="34" charset="0"/>
              </a:rPr>
              <a:t>Laboratorio N°3 </a:t>
            </a: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]</a:t>
            </a:r>
            <a:endParaRPr lang="es-ES_tradnl" altLang="en-US" sz="2000" u="none" noProof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741268" y="233291"/>
            <a:ext cx="4808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4492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n-US" sz="2400" u="none" dirty="0" smtClean="0">
                <a:solidFill>
                  <a:schemeClr val="folHlink"/>
                </a:solidFill>
                <a:latin typeface="Arial" panose="020B0604020202020204" pitchFamily="34" charset="0"/>
              </a:rPr>
              <a:t>Comunicación entre Procesos</a:t>
            </a:r>
            <a:endParaRPr lang="es-CL" altLang="en-US" sz="3600" u="none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96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 bwMode="auto">
          <a:xfrm>
            <a:off x="552449" y="1161328"/>
            <a:ext cx="10997293" cy="3965843"/>
          </a:xfrm>
          <a:prstGeom prst="rect">
            <a:avLst/>
          </a:prstGeom>
          <a:solidFill>
            <a:schemeClr val="tx1">
              <a:lumMod val="50000"/>
              <a:lumOff val="50000"/>
              <a:alpha val="4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24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compilar</a:t>
            </a:r>
            <a:r>
              <a:rPr lang="en-US" sz="24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2400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lang="en-US" sz="2400" b="1" i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gcc</a:t>
            </a:r>
            <a:r>
              <a:rPr lang="en-US" sz="2400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send.c</a:t>
            </a:r>
            <a:r>
              <a:rPr lang="en-US" sz="2400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-o send</a:t>
            </a:r>
          </a:p>
          <a:p>
            <a:pPr marL="0" indent="0">
              <a:buNone/>
            </a:pPr>
            <a:r>
              <a:rPr lang="en-US" sz="2400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	$</a:t>
            </a:r>
            <a:r>
              <a:rPr lang="en-US" sz="2400" b="1" i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gcc</a:t>
            </a:r>
            <a:r>
              <a:rPr lang="en-US" sz="2400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receive.c</a:t>
            </a:r>
            <a:r>
              <a:rPr lang="en-US" sz="2400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-o receive</a:t>
            </a:r>
          </a:p>
          <a:p>
            <a:endParaRPr lang="en-US" sz="2400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Ejecución</a:t>
            </a:r>
            <a:r>
              <a:rPr lang="en-US" sz="24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$./receive&amp;   </a:t>
            </a:r>
          </a:p>
          <a:p>
            <a:pPr marL="0" indent="0">
              <a:buNone/>
            </a:pPr>
            <a:r>
              <a:rPr lang="en-US" sz="2400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$./send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0" y="6556375"/>
            <a:ext cx="12192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Edopena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</a:t>
            </a:r>
            <a:r>
              <a:rPr lang="en-US" altLang="en-US" sz="1400" u="none" noProof="1" smtClean="0">
                <a:solidFill>
                  <a:srgbClr val="FFFFFF"/>
                </a:solidFill>
                <a:latin typeface="Arial" panose="020B0604020202020204" pitchFamily="34" charset="0"/>
              </a:rPr>
              <a:t>4 </a:t>
            </a:r>
            <a:r>
              <a:rPr lang="es-ES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Sistemas </a:t>
            </a: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Operativos</a:t>
            </a:r>
            <a:endParaRPr lang="de-DE" altLang="en-US" sz="1400" u="none" noProof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Conector recto 4"/>
          <p:cNvCxnSpPr/>
          <p:nvPr/>
        </p:nvCxnSpPr>
        <p:spPr>
          <a:xfrm>
            <a:off x="3378" y="6548303"/>
            <a:ext cx="121983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V="1">
            <a:off x="0" y="785091"/>
            <a:ext cx="12192000" cy="92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6350" y="-35150"/>
            <a:ext cx="5191125" cy="730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[ </a:t>
            </a:r>
            <a:r>
              <a:rPr lang="es-ES_tradnl" altLang="en-US" sz="2000" u="none" dirty="0" smtClean="0">
                <a:solidFill>
                  <a:schemeClr val="tx2"/>
                </a:solidFill>
                <a:latin typeface="Arial" panose="020B0604020202020204" pitchFamily="34" charset="0"/>
              </a:rPr>
              <a:t>Laboratorio N°3 </a:t>
            </a: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]</a:t>
            </a:r>
            <a:endParaRPr lang="es-ES_tradnl" altLang="en-US" sz="2000" u="none" noProof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741268" y="233291"/>
            <a:ext cx="4808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4492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n-US" sz="2400" u="none" dirty="0" smtClean="0">
                <a:solidFill>
                  <a:schemeClr val="folHlink"/>
                </a:solidFill>
                <a:latin typeface="Arial" panose="020B0604020202020204" pitchFamily="34" charset="0"/>
              </a:rPr>
              <a:t>Comunicación entre Procesos</a:t>
            </a:r>
            <a:endParaRPr lang="es-CL" altLang="en-US" sz="3600" u="none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3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 bwMode="auto">
          <a:xfrm>
            <a:off x="552449" y="1161328"/>
            <a:ext cx="10997293" cy="3965843"/>
          </a:xfrm>
          <a:prstGeom prst="rect">
            <a:avLst/>
          </a:prstGeom>
          <a:solidFill>
            <a:schemeClr val="tx1">
              <a:lumMod val="50000"/>
              <a:lumOff val="50000"/>
              <a:alpha val="4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sz="24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Considerar que:</a:t>
            </a:r>
          </a:p>
          <a:p>
            <a:pPr marL="0" indent="0">
              <a:buNone/>
            </a:pPr>
            <a:r>
              <a:rPr lang="es-MX" sz="24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leer las colas que se crearon:  </a:t>
            </a:r>
          </a:p>
          <a:p>
            <a:pPr marL="0" indent="0">
              <a:buNone/>
            </a:pPr>
            <a:r>
              <a:rPr lang="es-MX" sz="2400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lang="es-MX" sz="2400" b="1" i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ipcs</a:t>
            </a:r>
            <a:endParaRPr lang="es-MX" sz="2400" b="1" i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MX" sz="2400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MX" sz="24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eliminar la cola que se creó en forma manual: </a:t>
            </a:r>
          </a:p>
          <a:p>
            <a:pPr marL="0" indent="0">
              <a:buNone/>
            </a:pPr>
            <a:r>
              <a:rPr lang="es-MX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lang="es-MX" sz="2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ipcrm</a:t>
            </a:r>
            <a:r>
              <a:rPr lang="es-MX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-q [</a:t>
            </a:r>
            <a:r>
              <a:rPr lang="es-MX" sz="2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N°colaqid</a:t>
            </a:r>
            <a:r>
              <a:rPr lang="es-MX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0" y="6556375"/>
            <a:ext cx="12192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Edopena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</a:t>
            </a:r>
            <a:r>
              <a:rPr lang="en-US" altLang="en-US" sz="1400" u="none" noProof="1" smtClean="0">
                <a:solidFill>
                  <a:srgbClr val="FFFFFF"/>
                </a:solidFill>
                <a:latin typeface="Arial" panose="020B0604020202020204" pitchFamily="34" charset="0"/>
              </a:rPr>
              <a:t>5 </a:t>
            </a:r>
            <a:r>
              <a:rPr lang="es-ES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Sistemas </a:t>
            </a: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Operativos</a:t>
            </a:r>
            <a:endParaRPr lang="de-DE" altLang="en-US" sz="1400" u="none" noProof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Conector recto 4"/>
          <p:cNvCxnSpPr/>
          <p:nvPr/>
        </p:nvCxnSpPr>
        <p:spPr>
          <a:xfrm>
            <a:off x="3378" y="6548303"/>
            <a:ext cx="121983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V="1">
            <a:off x="0" y="785091"/>
            <a:ext cx="12192000" cy="92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6350" y="-35150"/>
            <a:ext cx="5191125" cy="730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[ </a:t>
            </a:r>
            <a:r>
              <a:rPr lang="es-ES_tradnl" altLang="en-US" sz="2000" u="none" dirty="0" smtClean="0">
                <a:solidFill>
                  <a:schemeClr val="tx2"/>
                </a:solidFill>
                <a:latin typeface="Arial" panose="020B0604020202020204" pitchFamily="34" charset="0"/>
              </a:rPr>
              <a:t>Laboratorio N°3 </a:t>
            </a: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]</a:t>
            </a:r>
            <a:endParaRPr lang="es-ES_tradnl" altLang="en-US" sz="2000" u="none" noProof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741268" y="233291"/>
            <a:ext cx="4808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4492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n-US" sz="2400" u="none" dirty="0" smtClean="0">
                <a:solidFill>
                  <a:schemeClr val="folHlink"/>
                </a:solidFill>
                <a:latin typeface="Arial" panose="020B0604020202020204" pitchFamily="34" charset="0"/>
              </a:rPr>
              <a:t>Comunicación entre Procesos</a:t>
            </a:r>
            <a:endParaRPr lang="es-CL" altLang="en-US" sz="3600" u="none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06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/>
          <p:cNvSpPr/>
          <p:nvPr/>
        </p:nvSpPr>
        <p:spPr bwMode="auto">
          <a:xfrm>
            <a:off x="552449" y="959423"/>
            <a:ext cx="10997293" cy="5324645"/>
          </a:xfrm>
          <a:prstGeom prst="rect">
            <a:avLst/>
          </a:prstGeom>
          <a:solidFill>
            <a:schemeClr val="tx1">
              <a:lumMod val="50000"/>
              <a:lumOff val="50000"/>
              <a:alpha val="4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20769"/>
            <a:ext cx="10515600" cy="1325563"/>
          </a:xfrm>
        </p:spPr>
        <p:txBody>
          <a:bodyPr/>
          <a:lstStyle/>
          <a:p>
            <a:r>
              <a:rPr lang="es-CL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Analizar…</a:t>
            </a:r>
            <a:endParaRPr lang="en-US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Elipse 3"/>
          <p:cNvSpPr/>
          <p:nvPr/>
        </p:nvSpPr>
        <p:spPr>
          <a:xfrm>
            <a:off x="2087418" y="3341399"/>
            <a:ext cx="1699491" cy="15517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/>
          <p:cNvSpPr/>
          <p:nvPr/>
        </p:nvSpPr>
        <p:spPr>
          <a:xfrm>
            <a:off x="8137235" y="2059708"/>
            <a:ext cx="1524000" cy="12838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/>
          <p:cNvSpPr/>
          <p:nvPr/>
        </p:nvSpPr>
        <p:spPr>
          <a:xfrm>
            <a:off x="8137235" y="3478500"/>
            <a:ext cx="1524000" cy="12838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/>
          <p:cNvSpPr/>
          <p:nvPr/>
        </p:nvSpPr>
        <p:spPr>
          <a:xfrm>
            <a:off x="8137235" y="4893108"/>
            <a:ext cx="1524000" cy="12838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2342914" y="3912042"/>
            <a:ext cx="1403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Productor</a:t>
            </a:r>
            <a:endParaRPr lang="en-US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8206101" y="2477526"/>
            <a:ext cx="1487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 smtClean="0"/>
              <a:t>Consumidor 1</a:t>
            </a:r>
            <a:endParaRPr lang="en-US" sz="1600" b="1" dirty="0"/>
          </a:p>
        </p:txBody>
      </p:sp>
      <p:sp>
        <p:nvSpPr>
          <p:cNvPr id="12" name="CuadroTexto 11"/>
          <p:cNvSpPr txBox="1"/>
          <p:nvPr/>
        </p:nvSpPr>
        <p:spPr>
          <a:xfrm>
            <a:off x="8155707" y="3932587"/>
            <a:ext cx="1487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 smtClean="0"/>
              <a:t>Consumidor 2</a:t>
            </a:r>
            <a:endParaRPr lang="en-US" sz="1600" b="1" dirty="0"/>
          </a:p>
        </p:txBody>
      </p:sp>
      <p:sp>
        <p:nvSpPr>
          <p:cNvPr id="13" name="CuadroTexto 12"/>
          <p:cNvSpPr txBox="1"/>
          <p:nvPr/>
        </p:nvSpPr>
        <p:spPr>
          <a:xfrm>
            <a:off x="8168698" y="5350369"/>
            <a:ext cx="1487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 smtClean="0"/>
              <a:t>Consumidor 3</a:t>
            </a:r>
            <a:endParaRPr lang="en-US" sz="1600" b="1" dirty="0"/>
          </a:p>
        </p:txBody>
      </p:sp>
      <p:cxnSp>
        <p:nvCxnSpPr>
          <p:cNvPr id="15" name="Conector recto de flecha 14"/>
          <p:cNvCxnSpPr/>
          <p:nvPr/>
        </p:nvCxnSpPr>
        <p:spPr>
          <a:xfrm flipV="1">
            <a:off x="3888509" y="2837130"/>
            <a:ext cx="3999346" cy="128012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/>
          <p:nvPr/>
        </p:nvCxnSpPr>
        <p:spPr>
          <a:xfrm flipV="1">
            <a:off x="3888509" y="4117253"/>
            <a:ext cx="3991839" cy="6870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/>
          <p:nvPr/>
        </p:nvCxnSpPr>
        <p:spPr>
          <a:xfrm>
            <a:off x="3966152" y="4252190"/>
            <a:ext cx="4023303" cy="136801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0" y="6556375"/>
            <a:ext cx="12192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Edopena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</a:t>
            </a:r>
            <a:r>
              <a:rPr lang="en-US" altLang="en-US" sz="1400" u="none" noProof="1" smtClean="0">
                <a:solidFill>
                  <a:srgbClr val="FFFFFF"/>
                </a:solidFill>
                <a:latin typeface="Arial" panose="020B0604020202020204" pitchFamily="34" charset="0"/>
              </a:rPr>
              <a:t>6 </a:t>
            </a:r>
            <a:r>
              <a:rPr lang="es-ES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Sistemas </a:t>
            </a: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Operativos</a:t>
            </a:r>
            <a:endParaRPr lang="de-DE" altLang="en-US" sz="1400" u="none" noProof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Conector recto 17"/>
          <p:cNvCxnSpPr/>
          <p:nvPr/>
        </p:nvCxnSpPr>
        <p:spPr>
          <a:xfrm>
            <a:off x="3378" y="6548303"/>
            <a:ext cx="121983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/>
          <p:cNvCxnSpPr/>
          <p:nvPr/>
        </p:nvCxnSpPr>
        <p:spPr>
          <a:xfrm flipV="1">
            <a:off x="0" y="785091"/>
            <a:ext cx="12192000" cy="92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-6350" y="-35150"/>
            <a:ext cx="5191125" cy="730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[ </a:t>
            </a:r>
            <a:r>
              <a:rPr lang="es-ES_tradnl" altLang="en-US" sz="2000" u="none" dirty="0" smtClean="0">
                <a:solidFill>
                  <a:schemeClr val="tx2"/>
                </a:solidFill>
                <a:latin typeface="Arial" panose="020B0604020202020204" pitchFamily="34" charset="0"/>
              </a:rPr>
              <a:t>Laboratorio N°3 </a:t>
            </a: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]</a:t>
            </a:r>
            <a:endParaRPr lang="es-ES_tradnl" altLang="en-US" sz="2000" u="none" noProof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6741268" y="233291"/>
            <a:ext cx="4808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4492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n-US" sz="2400" u="none" dirty="0" smtClean="0">
                <a:solidFill>
                  <a:schemeClr val="folHlink"/>
                </a:solidFill>
                <a:latin typeface="Arial" panose="020B0604020202020204" pitchFamily="34" charset="0"/>
              </a:rPr>
              <a:t>Comunicación entre Procesos</a:t>
            </a:r>
            <a:endParaRPr lang="es-CL" altLang="en-US" sz="3600" u="none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7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 bwMode="auto">
          <a:xfrm>
            <a:off x="552449" y="959423"/>
            <a:ext cx="10997293" cy="5489654"/>
          </a:xfrm>
          <a:prstGeom prst="rect">
            <a:avLst/>
          </a:prstGeom>
          <a:solidFill>
            <a:schemeClr val="tx1">
              <a:lumMod val="50000"/>
              <a:lumOff val="50000"/>
              <a:alpha val="4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608325"/>
            <a:ext cx="10515600" cy="1325563"/>
          </a:xfrm>
        </p:spPr>
        <p:txBody>
          <a:bodyPr/>
          <a:lstStyle/>
          <a:p>
            <a:r>
              <a:rPr lang="es-CL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Analizar…</a:t>
            </a:r>
            <a:endParaRPr lang="en-US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Elipse 3"/>
          <p:cNvSpPr/>
          <p:nvPr/>
        </p:nvSpPr>
        <p:spPr>
          <a:xfrm>
            <a:off x="8203620" y="3225439"/>
            <a:ext cx="1699491" cy="155170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/>
          <p:cNvSpPr/>
          <p:nvPr/>
        </p:nvSpPr>
        <p:spPr>
          <a:xfrm>
            <a:off x="2650837" y="2194645"/>
            <a:ext cx="1524000" cy="12838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/>
          <p:cNvSpPr/>
          <p:nvPr/>
        </p:nvSpPr>
        <p:spPr>
          <a:xfrm>
            <a:off x="2650837" y="3613437"/>
            <a:ext cx="1524000" cy="12838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/>
          <p:cNvSpPr/>
          <p:nvPr/>
        </p:nvSpPr>
        <p:spPr>
          <a:xfrm>
            <a:off x="2650837" y="5028045"/>
            <a:ext cx="1524000" cy="128385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8343535" y="3816627"/>
            <a:ext cx="1403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Consumidor</a:t>
            </a:r>
            <a:endParaRPr lang="en-US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2757845" y="2651906"/>
            <a:ext cx="148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Productor 1</a:t>
            </a:r>
            <a:endParaRPr lang="en-US" b="1" dirty="0"/>
          </a:p>
        </p:txBody>
      </p:sp>
      <p:cxnSp>
        <p:nvCxnSpPr>
          <p:cNvPr id="11" name="Conector recto de flecha 10"/>
          <p:cNvCxnSpPr/>
          <p:nvPr/>
        </p:nvCxnSpPr>
        <p:spPr>
          <a:xfrm>
            <a:off x="4389006" y="2724727"/>
            <a:ext cx="3517321" cy="114530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V="1">
            <a:off x="4267489" y="4149076"/>
            <a:ext cx="3685020" cy="10628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/>
          <p:nvPr/>
        </p:nvCxnSpPr>
        <p:spPr>
          <a:xfrm flipV="1">
            <a:off x="4346718" y="4424218"/>
            <a:ext cx="3679682" cy="115910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/>
          <p:cNvSpPr txBox="1"/>
          <p:nvPr/>
        </p:nvSpPr>
        <p:spPr>
          <a:xfrm>
            <a:off x="2785339" y="4054886"/>
            <a:ext cx="148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Productor 2</a:t>
            </a:r>
            <a:endParaRPr lang="en-US" b="1" dirty="0"/>
          </a:p>
        </p:txBody>
      </p:sp>
      <p:sp>
        <p:nvSpPr>
          <p:cNvPr id="17" name="CuadroTexto 16"/>
          <p:cNvSpPr txBox="1"/>
          <p:nvPr/>
        </p:nvSpPr>
        <p:spPr>
          <a:xfrm>
            <a:off x="2757844" y="5523095"/>
            <a:ext cx="148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Productor </a:t>
            </a:r>
            <a:r>
              <a:rPr lang="es-CL" b="1" dirty="0"/>
              <a:t>3</a:t>
            </a:r>
            <a:endParaRPr lang="en-US" b="1" dirty="0"/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0" y="6556375"/>
            <a:ext cx="12192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Edopena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</a:t>
            </a:r>
            <a:r>
              <a:rPr lang="en-US" altLang="en-US" sz="1400" u="none" noProof="1" smtClean="0">
                <a:solidFill>
                  <a:srgbClr val="FFFFFF"/>
                </a:solidFill>
                <a:latin typeface="Arial" panose="020B0604020202020204" pitchFamily="34" charset="0"/>
              </a:rPr>
              <a:t>7 </a:t>
            </a:r>
            <a:r>
              <a:rPr lang="es-ES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Sistemas </a:t>
            </a: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Operativos</a:t>
            </a:r>
            <a:endParaRPr lang="de-DE" altLang="en-US" sz="1400" u="none" noProof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Conector recto 18"/>
          <p:cNvCxnSpPr/>
          <p:nvPr/>
        </p:nvCxnSpPr>
        <p:spPr>
          <a:xfrm>
            <a:off x="3378" y="6548303"/>
            <a:ext cx="121983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 flipV="1">
            <a:off x="0" y="785091"/>
            <a:ext cx="12192000" cy="92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-6350" y="-35150"/>
            <a:ext cx="5191125" cy="730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[ </a:t>
            </a:r>
            <a:r>
              <a:rPr lang="es-ES_tradnl" altLang="en-US" sz="2000" u="none" dirty="0" smtClean="0">
                <a:solidFill>
                  <a:schemeClr val="tx2"/>
                </a:solidFill>
                <a:latin typeface="Arial" panose="020B0604020202020204" pitchFamily="34" charset="0"/>
              </a:rPr>
              <a:t>Laboratorio N°3 </a:t>
            </a: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]</a:t>
            </a:r>
            <a:endParaRPr lang="es-ES_tradnl" altLang="en-US" sz="2000" u="none" noProof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6741268" y="233291"/>
            <a:ext cx="4808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4492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n-US" sz="2400" u="none" dirty="0" smtClean="0">
                <a:solidFill>
                  <a:schemeClr val="folHlink"/>
                </a:solidFill>
                <a:latin typeface="Arial" panose="020B0604020202020204" pitchFamily="34" charset="0"/>
              </a:rPr>
              <a:t>Comunicación entre Procesos</a:t>
            </a:r>
            <a:endParaRPr lang="es-CL" altLang="en-US" sz="3600" u="none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7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 bwMode="auto">
          <a:xfrm>
            <a:off x="552449" y="959423"/>
            <a:ext cx="10997293" cy="4633981"/>
          </a:xfrm>
          <a:prstGeom prst="rect">
            <a:avLst/>
          </a:prstGeom>
          <a:solidFill>
            <a:schemeClr val="tx1">
              <a:lumMod val="50000"/>
              <a:lumOff val="50000"/>
              <a:alpha val="4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20771"/>
            <a:ext cx="10515600" cy="1325563"/>
          </a:xfrm>
        </p:spPr>
        <p:txBody>
          <a:bodyPr>
            <a:normAutofit/>
          </a:bodyPr>
          <a:lstStyle/>
          <a:p>
            <a:r>
              <a:rPr lang="es-CL" sz="2800" b="1" i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Ejercicio de laboratorio:</a:t>
            </a:r>
            <a:endParaRPr lang="en-US" sz="28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40860" y="1825625"/>
            <a:ext cx="9786025" cy="4351338"/>
          </a:xfrm>
        </p:spPr>
        <p:txBody>
          <a:bodyPr/>
          <a:lstStyle/>
          <a:p>
            <a:pPr algn="just"/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través de primitivas se debe implementar la comunicación entre un proceso </a:t>
            </a:r>
            <a:r>
              <a:rPr lang="es-MX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roductor y un proceso Consumidor (cliente).</a:t>
            </a:r>
          </a:p>
          <a:p>
            <a:pPr algn="just"/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debe crear la(s) cola(s) de mensajes y preparar mensaje(s) el cual se envía a través del proceso productor(es), el(los) proceso(s) consumidor(s) recibe el mensaje, lo lee y lo imprime, luego de esto la cola de mensajes se debe eliminar.</a:t>
            </a:r>
          </a:p>
          <a:p>
            <a:pPr algn="just"/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mensaje puede ser alfabético, numérico o alfanumérico (</a:t>
            </a:r>
            <a:r>
              <a:rPr lang="es-MX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ud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decide según le convenga en su código)</a:t>
            </a:r>
          </a:p>
          <a:p>
            <a:pPr algn="just"/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Considerar volumen de información sobre 100 datos con un retardo de tiempo de producción aleatorio.</a:t>
            </a:r>
          </a:p>
          <a:p>
            <a:endParaRPr lang="en-US" dirty="0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0" y="6556375"/>
            <a:ext cx="12192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Edopena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</a:t>
            </a:r>
            <a:r>
              <a:rPr lang="en-US" altLang="en-US" sz="1400" u="none" noProof="1" smtClean="0">
                <a:solidFill>
                  <a:srgbClr val="FFFFFF"/>
                </a:solidFill>
                <a:latin typeface="Arial" panose="020B0604020202020204" pitchFamily="34" charset="0"/>
              </a:rPr>
              <a:t>8</a:t>
            </a:r>
            <a:r>
              <a:rPr lang="es-ES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Sistemas </a:t>
            </a: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Operativos</a:t>
            </a:r>
            <a:endParaRPr lang="de-DE" altLang="en-US" sz="1400" u="none" noProof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Conector recto 4"/>
          <p:cNvCxnSpPr/>
          <p:nvPr/>
        </p:nvCxnSpPr>
        <p:spPr>
          <a:xfrm>
            <a:off x="3378" y="6548303"/>
            <a:ext cx="121983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V="1">
            <a:off x="0" y="785091"/>
            <a:ext cx="12192000" cy="92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6350" y="-35150"/>
            <a:ext cx="5191125" cy="730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[ </a:t>
            </a:r>
            <a:r>
              <a:rPr lang="es-ES_tradnl" altLang="en-US" sz="2000" u="none" dirty="0" smtClean="0">
                <a:solidFill>
                  <a:schemeClr val="tx2"/>
                </a:solidFill>
                <a:latin typeface="Arial" panose="020B0604020202020204" pitchFamily="34" charset="0"/>
              </a:rPr>
              <a:t>Laboratorio N°3 </a:t>
            </a: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]</a:t>
            </a:r>
            <a:endParaRPr lang="es-ES_tradnl" altLang="en-US" sz="2000" u="none" noProof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741268" y="233291"/>
            <a:ext cx="4808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4492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n-US" sz="2400" u="none" dirty="0" smtClean="0">
                <a:solidFill>
                  <a:schemeClr val="folHlink"/>
                </a:solidFill>
                <a:latin typeface="Arial" panose="020B0604020202020204" pitchFamily="34" charset="0"/>
              </a:rPr>
              <a:t>Comunicación entre Procesos</a:t>
            </a:r>
            <a:endParaRPr lang="es-CL" altLang="en-US" sz="3600" u="none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64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 bwMode="auto">
          <a:xfrm>
            <a:off x="552449" y="959423"/>
            <a:ext cx="10997293" cy="5324645"/>
          </a:xfrm>
          <a:prstGeom prst="rect">
            <a:avLst/>
          </a:prstGeom>
          <a:solidFill>
            <a:schemeClr val="tx1">
              <a:lumMod val="50000"/>
              <a:lumOff val="50000"/>
              <a:alpha val="4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9226" y="1825625"/>
            <a:ext cx="9863846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CL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Analizar las siguientes situaciones con comunicación entre procesos:</a:t>
            </a:r>
          </a:p>
          <a:p>
            <a:pPr marL="0" indent="0" algn="just">
              <a:buNone/>
            </a:pPr>
            <a:endParaRPr lang="es-CL" sz="2000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 hay más mensajes en el buffer que los que puede atender el Consumidor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Cuando el </a:t>
            </a:r>
            <a:r>
              <a:rPr lang="es-MX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Proceso_Consumidor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atiende tan rápido que no hay mensajes en el </a:t>
            </a:r>
            <a:r>
              <a:rPr lang="es-MX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Buﬀer</a:t>
            </a:r>
            <a:endParaRPr lang="es-MX" sz="2000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s-MX" sz="2000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Cómo solucionaría Ud. sólo con herramientas de comunicación el poder enviar a más de un </a:t>
            </a:r>
            <a:r>
              <a:rPr lang="es-MX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Proceso_Consumidor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mismo mensaje?</a:t>
            </a:r>
          </a:p>
          <a:p>
            <a:pPr marL="0" indent="0" algn="just">
              <a:buNone/>
            </a:pPr>
            <a:endParaRPr lang="es-MX" sz="2000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qué manera se podría recibir en un </a:t>
            </a:r>
            <a:r>
              <a:rPr lang="es-MX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solo </a:t>
            </a:r>
            <a:r>
              <a:rPr lang="es-MX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Proceso_Consumidor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 mensajes de más de un </a:t>
            </a:r>
            <a:r>
              <a:rPr lang="es-MX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Proceso_Productor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just">
              <a:buNone/>
            </a:pPr>
            <a:endParaRPr lang="es-MX" sz="2000" dirty="0" smtClean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dispone de 10 </a:t>
            </a:r>
            <a:r>
              <a:rPr lang="es-MX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Procesos_Productores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envían al mismo tiempo sus mensajes al </a:t>
            </a:r>
            <a:r>
              <a:rPr lang="es-MX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Proceso_Consumidor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200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último, 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qué orden los recibe? O los recibe al mismo tiempo? </a:t>
            </a:r>
            <a:r>
              <a:rPr lang="es-MX" sz="20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Justiﬁque</a:t>
            </a:r>
            <a:r>
              <a:rPr lang="es-MX" sz="2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sus respuestas</a:t>
            </a:r>
          </a:p>
          <a:p>
            <a:endParaRPr lang="es-MX" dirty="0" smtClean="0"/>
          </a:p>
          <a:p>
            <a:endParaRPr lang="es-MX" dirty="0" smtClean="0"/>
          </a:p>
          <a:p>
            <a:endParaRPr lang="es-MX" dirty="0" smtClean="0"/>
          </a:p>
          <a:p>
            <a:endParaRPr lang="es-CL" dirty="0" smtClean="0"/>
          </a:p>
          <a:p>
            <a:endParaRPr lang="en-US" dirty="0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0" y="6556375"/>
            <a:ext cx="12192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Edopena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</a:t>
            </a:r>
            <a:r>
              <a:rPr lang="en-US" altLang="en-US" sz="1400" u="none" noProof="1" smtClean="0">
                <a:solidFill>
                  <a:srgbClr val="FFFFFF"/>
                </a:solidFill>
                <a:latin typeface="Arial" panose="020B0604020202020204" pitchFamily="34" charset="0"/>
              </a:rPr>
              <a:t>9</a:t>
            </a:r>
            <a:r>
              <a:rPr lang="es-ES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                                                                                     </a:t>
            </a:r>
            <a:r>
              <a:rPr lang="de-DE" altLang="en-US" sz="1400" u="none" dirty="0" smtClean="0">
                <a:solidFill>
                  <a:srgbClr val="FFFFFF"/>
                </a:solidFill>
                <a:latin typeface="Arial" panose="020B0604020202020204" pitchFamily="34" charset="0"/>
              </a:rPr>
              <a:t>Sistemas </a:t>
            </a:r>
            <a:r>
              <a:rPr lang="de-DE" altLang="en-US" sz="1400" u="none" dirty="0">
                <a:solidFill>
                  <a:srgbClr val="FFFFFF"/>
                </a:solidFill>
                <a:latin typeface="Arial" panose="020B0604020202020204" pitchFamily="34" charset="0"/>
              </a:rPr>
              <a:t>Operativos</a:t>
            </a:r>
            <a:endParaRPr lang="de-DE" altLang="en-US" sz="1400" u="none" noProof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Conector recto 4"/>
          <p:cNvCxnSpPr/>
          <p:nvPr/>
        </p:nvCxnSpPr>
        <p:spPr>
          <a:xfrm>
            <a:off x="3378" y="6548303"/>
            <a:ext cx="121983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V="1">
            <a:off x="0" y="785091"/>
            <a:ext cx="12192000" cy="923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6350" y="-35150"/>
            <a:ext cx="5191125" cy="730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[ </a:t>
            </a:r>
            <a:r>
              <a:rPr lang="es-ES_tradnl" altLang="en-US" sz="2000" u="none" dirty="0" smtClean="0">
                <a:solidFill>
                  <a:schemeClr val="tx2"/>
                </a:solidFill>
                <a:latin typeface="Arial" panose="020B0604020202020204" pitchFamily="34" charset="0"/>
              </a:rPr>
              <a:t>Laboratorio N°3 </a:t>
            </a:r>
            <a:r>
              <a:rPr lang="es-ES_tradnl" altLang="en-US" sz="2000" u="none" dirty="0">
                <a:solidFill>
                  <a:schemeClr val="tx2"/>
                </a:solidFill>
                <a:latin typeface="Arial" panose="020B0604020202020204" pitchFamily="34" charset="0"/>
              </a:rPr>
              <a:t>]</a:t>
            </a:r>
            <a:endParaRPr lang="es-ES_tradnl" altLang="en-US" sz="2000" u="none" noProof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741268" y="233291"/>
            <a:ext cx="48084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4492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CL" altLang="en-US" sz="2400" u="none" dirty="0" smtClean="0">
                <a:solidFill>
                  <a:schemeClr val="folHlink"/>
                </a:solidFill>
                <a:latin typeface="Arial" panose="020B0604020202020204" pitchFamily="34" charset="0"/>
              </a:rPr>
              <a:t>Comunicación entre Procesos</a:t>
            </a:r>
            <a:endParaRPr lang="es-CL" altLang="en-US" sz="3600" u="none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31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edopena@kataix</a:t>
            </a:r>
            <a:r>
              <a:rPr lang="en-US" dirty="0">
                <a:solidFill>
                  <a:schemeClr val="bg1"/>
                </a:solidFill>
              </a:rPr>
              <a:t>:~$ </a:t>
            </a:r>
            <a:r>
              <a:rPr lang="en-US" dirty="0" err="1">
                <a:solidFill>
                  <a:schemeClr val="bg1"/>
                </a:solidFill>
              </a:rPr>
              <a:t>ipcs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------ Colas de </a:t>
            </a:r>
            <a:r>
              <a:rPr lang="en-US" dirty="0" err="1">
                <a:solidFill>
                  <a:schemeClr val="bg1"/>
                </a:solidFill>
              </a:rPr>
              <a:t>mensajes</a:t>
            </a:r>
            <a:r>
              <a:rPr lang="en-US" dirty="0">
                <a:solidFill>
                  <a:schemeClr val="bg1"/>
                </a:solidFill>
              </a:rPr>
              <a:t> -----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key        </a:t>
            </a:r>
            <a:r>
              <a:rPr lang="en-US" dirty="0" err="1">
                <a:solidFill>
                  <a:schemeClr val="bg1"/>
                </a:solidFill>
              </a:rPr>
              <a:t>msqid</a:t>
            </a:r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dirty="0" err="1">
                <a:solidFill>
                  <a:schemeClr val="bg1"/>
                </a:solidFill>
              </a:rPr>
              <a:t>propietario</a:t>
            </a:r>
            <a:r>
              <a:rPr lang="en-US" dirty="0">
                <a:solidFill>
                  <a:schemeClr val="bg1"/>
                </a:solidFill>
              </a:rPr>
              <a:t> perms      bytes </a:t>
            </a:r>
            <a:r>
              <a:rPr lang="en-US" dirty="0" err="1">
                <a:solidFill>
                  <a:schemeClr val="bg1"/>
                </a:solidFill>
              </a:rPr>
              <a:t>utilizados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mensajes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---- </a:t>
            </a:r>
            <a:r>
              <a:rPr lang="en-US" dirty="0" err="1">
                <a:solidFill>
                  <a:schemeClr val="bg1"/>
                </a:solidFill>
              </a:rPr>
              <a:t>Segmentos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memoria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compartida</a:t>
            </a:r>
            <a:r>
              <a:rPr lang="en-US" dirty="0">
                <a:solidFill>
                  <a:schemeClr val="bg1"/>
                </a:solidFill>
              </a:rPr>
              <a:t> ----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key        </a:t>
            </a:r>
            <a:r>
              <a:rPr lang="en-US" dirty="0" err="1">
                <a:solidFill>
                  <a:schemeClr val="bg1"/>
                </a:solidFill>
              </a:rPr>
              <a:t>shmid</a:t>
            </a:r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dirty="0" err="1">
                <a:solidFill>
                  <a:schemeClr val="bg1"/>
                </a:solidFill>
              </a:rPr>
              <a:t>propietario</a:t>
            </a:r>
            <a:r>
              <a:rPr lang="en-US" dirty="0">
                <a:solidFill>
                  <a:schemeClr val="bg1"/>
                </a:solidFill>
              </a:rPr>
              <a:t> perms      bytes      </a:t>
            </a:r>
            <a:r>
              <a:rPr lang="en-US" dirty="0" err="1">
                <a:solidFill>
                  <a:schemeClr val="bg1"/>
                </a:solidFill>
              </a:rPr>
              <a:t>nattch</a:t>
            </a:r>
            <a:r>
              <a:rPr lang="en-US" dirty="0">
                <a:solidFill>
                  <a:schemeClr val="bg1"/>
                </a:solidFill>
              </a:rPr>
              <a:t>     </a:t>
            </a:r>
            <a:r>
              <a:rPr lang="en-US" dirty="0" err="1">
                <a:solidFill>
                  <a:schemeClr val="bg1"/>
                </a:solidFill>
              </a:rPr>
              <a:t>estado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------ Matrices </a:t>
            </a:r>
            <a:r>
              <a:rPr lang="en-US" dirty="0" err="1">
                <a:solidFill>
                  <a:schemeClr val="bg1"/>
                </a:solidFill>
              </a:rPr>
              <a:t>semáforo</a:t>
            </a:r>
            <a:r>
              <a:rPr lang="en-US" dirty="0">
                <a:solidFill>
                  <a:schemeClr val="bg1"/>
                </a:solidFill>
              </a:rPr>
              <a:t> -------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key        </a:t>
            </a:r>
            <a:r>
              <a:rPr lang="en-US" dirty="0" err="1">
                <a:solidFill>
                  <a:schemeClr val="bg1"/>
                </a:solidFill>
              </a:rPr>
              <a:t>semid</a:t>
            </a:r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dirty="0" err="1">
                <a:solidFill>
                  <a:schemeClr val="bg1"/>
                </a:solidFill>
              </a:rPr>
              <a:t>propietario</a:t>
            </a:r>
            <a:r>
              <a:rPr lang="en-US" dirty="0">
                <a:solidFill>
                  <a:schemeClr val="bg1"/>
                </a:solidFill>
              </a:rPr>
              <a:t> perms      </a:t>
            </a:r>
            <a:r>
              <a:rPr lang="en-US" dirty="0" err="1">
                <a:solidFill>
                  <a:schemeClr val="bg1"/>
                </a:solidFill>
              </a:rPr>
              <a:t>nsems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edopena@kataix</a:t>
            </a:r>
            <a:r>
              <a:rPr lang="en-US" dirty="0">
                <a:solidFill>
                  <a:schemeClr val="bg1"/>
                </a:solidFill>
              </a:rPr>
              <a:t>:~$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6351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529</Words>
  <Application>Microsoft Office PowerPoint</Application>
  <PresentationFormat>Panorámica</PresentationFormat>
  <Paragraphs>93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Analizar…</vt:lpstr>
      <vt:lpstr>Analizar…</vt:lpstr>
      <vt:lpstr>  Ejercicio de laboratorio: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Comunicación entre procesos</dc:title>
  <dc:creator>Eduardo Peña</dc:creator>
  <cp:lastModifiedBy>Eduardo Peña</cp:lastModifiedBy>
  <cp:revision>14</cp:revision>
  <dcterms:created xsi:type="dcterms:W3CDTF">2020-06-12T17:09:04Z</dcterms:created>
  <dcterms:modified xsi:type="dcterms:W3CDTF">2021-06-08T11:48:51Z</dcterms:modified>
</cp:coreProperties>
</file>